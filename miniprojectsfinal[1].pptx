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0" r:id="rId5"/>
    <p:sldId id="279" r:id="rId6"/>
    <p:sldId id="280" r:id="rId7"/>
    <p:sldId id="281" r:id="rId8"/>
    <p:sldId id="259" r:id="rId9"/>
    <p:sldId id="265" r:id="rId10"/>
    <p:sldId id="269" r:id="rId11"/>
    <p:sldId id="270" r:id="rId12"/>
    <p:sldId id="271" r:id="rId13"/>
    <p:sldId id="272" r:id="rId14"/>
    <p:sldId id="266" r:id="rId15"/>
    <p:sldId id="278" r:id="rId16"/>
    <p:sldId id="277" r:id="rId17"/>
    <p:sldId id="274" r:id="rId18"/>
    <p:sldId id="273" r:id="rId19"/>
    <p:sldId id="275" r:id="rId20"/>
    <p:sldId id="267" r:id="rId21"/>
    <p:sldId id="268" r:id="rId22"/>
    <p:sldId id="263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D7053D-ED48-4C13-9613-58AD2ACC1E92}" v="2" dt="2025-12-01T04:26:51.1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36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JEET RANJAN" userId="31edc0ab38799287" providerId="LiveId" clId="{9B0721B1-8DCA-4444-B9AB-CD237CA3D0E3}"/>
    <pc:docChg chg="undo custSel delSld modSld sldOrd">
      <pc:chgData name="ABHIJEET RANJAN" userId="31edc0ab38799287" providerId="LiveId" clId="{9B0721B1-8DCA-4444-B9AB-CD237CA3D0E3}" dt="2025-12-01T04:38:41.382" v="25" actId="2696"/>
      <pc:docMkLst>
        <pc:docMk/>
      </pc:docMkLst>
      <pc:sldChg chg="modSp mod">
        <pc:chgData name="ABHIJEET RANJAN" userId="31edc0ab38799287" providerId="LiveId" clId="{9B0721B1-8DCA-4444-B9AB-CD237CA3D0E3}" dt="2025-12-01T04:26:51.138" v="18"/>
        <pc:sldMkLst>
          <pc:docMk/>
          <pc:sldMk cId="0" sldId="256"/>
        </pc:sldMkLst>
        <pc:spChg chg="mod">
          <ac:chgData name="ABHIJEET RANJAN" userId="31edc0ab38799287" providerId="LiveId" clId="{9B0721B1-8DCA-4444-B9AB-CD237CA3D0E3}" dt="2025-12-01T04:26:50.617" v="16" actId="113"/>
          <ac:spMkLst>
            <pc:docMk/>
            <pc:sldMk cId="0" sldId="256"/>
            <ac:spMk id="2" creationId="{00000000-0000-0000-0000-000000000000}"/>
          </ac:spMkLst>
        </pc:spChg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0" sldId="256"/>
            <ac:spMk id="3" creationId="{00000000-0000-0000-0000-000000000000}"/>
          </ac:spMkLst>
        </pc:spChg>
        <pc:spChg chg="mod">
          <ac:chgData name="ABHIJEET RANJAN" userId="31edc0ab38799287" providerId="LiveId" clId="{9B0721B1-8DCA-4444-B9AB-CD237CA3D0E3}" dt="2025-12-01T04:25:58.672" v="2" actId="20577"/>
          <ac:spMkLst>
            <pc:docMk/>
            <pc:sldMk cId="0" sldId="256"/>
            <ac:spMk id="4" creationId="{FA1C660D-F75F-9572-EE75-AF42AB1BA3C2}"/>
          </ac:spMkLst>
        </pc:sp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0" sldId="258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0" sldId="258"/>
            <ac:spMk id="2" creationId="{00000000-0000-0000-0000-000000000000}"/>
          </ac:spMkLst>
        </pc:spChg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0" sldId="258"/>
            <ac:spMk id="3" creationId="{00000000-0000-0000-0000-000000000000}"/>
          </ac:spMkLst>
        </pc:sp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0" sldId="259"/>
        </pc:sldMkLst>
        <pc:picChg chg="mod">
          <ac:chgData name="ABHIJEET RANJAN" userId="31edc0ab38799287" providerId="LiveId" clId="{9B0721B1-8DCA-4444-B9AB-CD237CA3D0E3}" dt="2025-12-01T04:26:51.138" v="18"/>
          <ac:picMkLst>
            <pc:docMk/>
            <pc:sldMk cId="0" sldId="259"/>
            <ac:picMk id="5" creationId="{F8E09CF2-B4E0-9197-B757-FBB2AE65E233}"/>
          </ac:picMkLst>
        </pc:pic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0" sldId="263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0" sldId="263"/>
            <ac:spMk id="2" creationId="{00000000-0000-0000-0000-000000000000}"/>
          </ac:spMkLst>
        </pc:spChg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0" sldId="263"/>
            <ac:spMk id="3" creationId="{00000000-0000-0000-0000-000000000000}"/>
          </ac:spMkLst>
        </pc:spChg>
      </pc:sldChg>
      <pc:sldChg chg="modSp mod ord">
        <pc:chgData name="ABHIJEET RANJAN" userId="31edc0ab38799287" providerId="LiveId" clId="{9B0721B1-8DCA-4444-B9AB-CD237CA3D0E3}" dt="2025-12-01T04:38:11.099" v="24"/>
        <pc:sldMkLst>
          <pc:docMk/>
          <pc:sldMk cId="1757475034" sldId="265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1757475034" sldId="265"/>
            <ac:spMk id="3" creationId="{06C7A4DD-123E-249A-5979-B453172AD512}"/>
          </ac:spMkLst>
        </pc:sp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3237876270" sldId="266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3237876270" sldId="266"/>
            <ac:spMk id="3" creationId="{326B66BE-F055-DC0A-E381-7602441E8CF6}"/>
          </ac:spMkLst>
        </pc:sp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999008669" sldId="267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999008669" sldId="267"/>
            <ac:spMk id="2" creationId="{7E6429AD-67D5-D4F4-2C30-8EEDD1532748}"/>
          </ac:spMkLst>
        </pc:sp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2401678172" sldId="268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2401678172" sldId="268"/>
            <ac:spMk id="3" creationId="{03925CF5-C9B3-CAA0-D3A0-70F64E1709B6}"/>
          </ac:spMkLst>
        </pc:sp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194679480" sldId="269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194679480" sldId="269"/>
            <ac:spMk id="3" creationId="{396D5139-C487-D618-F71E-D9F89D510A6C}"/>
          </ac:spMkLst>
        </pc:sp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1599673527" sldId="270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1599673527" sldId="270"/>
            <ac:spMk id="3" creationId="{84786BEB-4381-0ADA-ABE1-088E3BAE773D}"/>
          </ac:spMkLst>
        </pc:sp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2877561171" sldId="272"/>
        </pc:sldMkLst>
        <pc:graphicFrameChg chg="mod">
          <ac:chgData name="ABHIJEET RANJAN" userId="31edc0ab38799287" providerId="LiveId" clId="{9B0721B1-8DCA-4444-B9AB-CD237CA3D0E3}" dt="2025-12-01T04:26:51.138" v="18"/>
          <ac:graphicFrameMkLst>
            <pc:docMk/>
            <pc:sldMk cId="2877561171" sldId="272"/>
            <ac:graphicFrameMk id="4" creationId="{21454EBC-2499-5846-BEAE-7F055419206F}"/>
          </ac:graphicFrameMkLst>
        </pc:graphicFrame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794158899" sldId="273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794158899" sldId="273"/>
            <ac:spMk id="5" creationId="{4F9B00BD-4429-50C5-EAE2-D95C6B8113FF}"/>
          </ac:spMkLst>
        </pc:sp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3417834880" sldId="274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3417834880" sldId="274"/>
            <ac:spMk id="3" creationId="{BA6E5017-7696-7846-90CC-2BDE9956A90D}"/>
          </ac:spMkLst>
        </pc:sp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742357990" sldId="275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742357990" sldId="275"/>
            <ac:spMk id="3" creationId="{27EDA4C8-7D8C-7684-EA87-9C05DCB317B3}"/>
          </ac:spMkLst>
        </pc:spChg>
      </pc:sldChg>
      <pc:sldChg chg="del">
        <pc:chgData name="ABHIJEET RANJAN" userId="31edc0ab38799287" providerId="LiveId" clId="{9B0721B1-8DCA-4444-B9AB-CD237CA3D0E3}" dt="2025-12-01T04:38:41.382" v="25" actId="2696"/>
        <pc:sldMkLst>
          <pc:docMk/>
          <pc:sldMk cId="1938188078" sldId="276"/>
        </pc:sldMkLst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1855986172" sldId="277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1855986172" sldId="277"/>
            <ac:spMk id="3" creationId="{668F4CBE-3AE4-0E61-C7D6-7D5D9A356B58}"/>
          </ac:spMkLst>
        </pc:spChg>
      </pc:sldChg>
      <pc:sldChg chg="modSp mod">
        <pc:chgData name="ABHIJEET RANJAN" userId="31edc0ab38799287" providerId="LiveId" clId="{9B0721B1-8DCA-4444-B9AB-CD237CA3D0E3}" dt="2025-12-01T04:26:51.138" v="18"/>
        <pc:sldMkLst>
          <pc:docMk/>
          <pc:sldMk cId="2919486847" sldId="278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2919486847" sldId="278"/>
            <ac:spMk id="3" creationId="{64A01034-041B-D937-C402-3284DE1C6B85}"/>
          </ac:spMkLst>
        </pc:sp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4084343930" sldId="279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4084343930" sldId="279"/>
            <ac:spMk id="2" creationId="{61903290-21B4-5352-3427-B5C9609CA67B}"/>
          </ac:spMkLst>
        </pc:sp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1891405025" sldId="280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1891405025" sldId="280"/>
            <ac:spMk id="2" creationId="{21D889B1-488A-CEE1-A27C-0BD4CE29E96F}"/>
          </ac:spMkLst>
        </pc:spChg>
      </pc:sldChg>
      <pc:sldChg chg="modSp">
        <pc:chgData name="ABHIJEET RANJAN" userId="31edc0ab38799287" providerId="LiveId" clId="{9B0721B1-8DCA-4444-B9AB-CD237CA3D0E3}" dt="2025-12-01T04:26:51.138" v="18"/>
        <pc:sldMkLst>
          <pc:docMk/>
          <pc:sldMk cId="1821528309" sldId="281"/>
        </pc:sldMkLst>
        <pc:spChg chg="mod">
          <ac:chgData name="ABHIJEET RANJAN" userId="31edc0ab38799287" providerId="LiveId" clId="{9B0721B1-8DCA-4444-B9AB-CD237CA3D0E3}" dt="2025-12-01T04:26:51.138" v="18"/>
          <ac:spMkLst>
            <pc:docMk/>
            <pc:sldMk cId="1821528309" sldId="281"/>
            <ac:spMk id="2" creationId="{75AFCAFE-E8C9-9147-D914-796C5BCB01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22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188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9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6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6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84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00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430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91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40459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903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18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25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874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3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64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etir.org/papers/JETIRGG06028.pdf?utm_source=chatgpt.com" TargetMode="External"/><Relationship Id="rId3" Type="http://schemas.openxmlformats.org/officeDocument/2006/relationships/hyperlink" Target="https://www.ijraset.com/research-paper/student-grievance-redressal-system?utm_source=chatgpt.com" TargetMode="External"/><Relationship Id="rId7" Type="http://schemas.openxmlformats.org/officeDocument/2006/relationships/hyperlink" Target="https://www.specific.app/blog/how-to-create-student-survey-about-grievance-processes?utm_source=chatgpt.com" TargetMode="External"/><Relationship Id="rId2" Type="http://schemas.openxmlformats.org/officeDocument/2006/relationships/hyperlink" Target="https://www.researchgate.net/publication/391891557_Design_and_implementation_of_Online_Students%27_Complaint_Management_System_for_Institutions_of_Higher_Learning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prototypr.io/case-study-student-portal-d6dab81d3d26?utm_source=chatgpt.com" TargetMode="External"/><Relationship Id="rId5" Type="http://schemas.openxmlformats.org/officeDocument/2006/relationships/hyperlink" Target="https://github.com/virajbhutada/students-grievance-management-system?utm_source=chatgpt.com" TargetMode="External"/><Relationship Id="rId4" Type="http://schemas.openxmlformats.org/officeDocument/2006/relationships/hyperlink" Target="https://www.ijset.in/wp-content/uploads/IJSET_V12_issue2_541.pdf?utm_source=chatgpt.com" TargetMode="External"/><Relationship Id="rId9" Type="http://schemas.openxmlformats.org/officeDocument/2006/relationships/hyperlink" Target="https://timesofindia.indiatimes.com/city/indore/davv-to-launch-app-to-resolve-students-grievances/articleshow/122350387.cms?utm_source=chatgpt.com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734" y="1034321"/>
            <a:ext cx="8998531" cy="3102964"/>
          </a:xfrm>
        </p:spPr>
        <p:txBody>
          <a:bodyPr>
            <a:normAutofit fontScale="90000"/>
          </a:bodyPr>
          <a:lstStyle/>
          <a:p>
            <a:r>
              <a:rPr lang="en-IN" dirty="0"/>
              <a:t>DEPARTMENT OF COMPUTER SCIENCE AND ENGINEERING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36021M81 MINI PROJECT</a:t>
            </a:r>
            <a:br>
              <a:rPr lang="en-IN" dirty="0"/>
            </a:br>
            <a:r>
              <a:rPr lang="en-IN" dirty="0"/>
              <a:t>STUDENT GRIEVANCE HUB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0235" y="4192975"/>
            <a:ext cx="5623527" cy="216285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Team Members</a:t>
            </a:r>
          </a:p>
          <a:p>
            <a:r>
              <a:rPr lang="en-US" b="1" dirty="0"/>
              <a:t>ABHIJEET RANJAN </a:t>
            </a:r>
            <a:r>
              <a:rPr lang="en-US" dirty="0"/>
              <a:t>– Reg. No:3502210503-IV CSEA</a:t>
            </a:r>
          </a:p>
          <a:p>
            <a:r>
              <a:rPr lang="en-US" b="1" dirty="0"/>
              <a:t>ABHISHEK KUMAR</a:t>
            </a:r>
            <a:r>
              <a:rPr lang="en-US" dirty="0"/>
              <a:t>–Reg. No: 3502210504-IV CSE A</a:t>
            </a:r>
          </a:p>
          <a:p>
            <a:r>
              <a:rPr lang="en-US" b="1" dirty="0"/>
              <a:t>AVNISH KUMAR</a:t>
            </a:r>
            <a:r>
              <a:rPr lang="en-US" dirty="0"/>
              <a:t> – Reg. No: 3502210519 -IV CSE A</a:t>
            </a:r>
          </a:p>
          <a:p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368A21-1EE2-ABF7-EE8F-FBBF6D926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307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A1C660D-F75F-9572-EE75-AF42AB1BA3C2}"/>
              </a:ext>
            </a:extLst>
          </p:cNvPr>
          <p:cNvSpPr/>
          <p:nvPr/>
        </p:nvSpPr>
        <p:spPr>
          <a:xfrm>
            <a:off x="1993392" y="5670651"/>
            <a:ext cx="5390370" cy="75279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/>
              <a:t>Guide Name: </a:t>
            </a:r>
            <a:r>
              <a:rPr lang="en-US" b="1" dirty="0" err="1"/>
              <a:t>DR.Pitchumani</a:t>
            </a:r>
            <a:r>
              <a:rPr lang="en-US" b="1" dirty="0"/>
              <a:t> Angayarkanni</a:t>
            </a:r>
          </a:p>
          <a:p>
            <a:r>
              <a:rPr lang="en-US" b="1" dirty="0"/>
              <a:t>Designation: professor</a:t>
            </a:r>
            <a:endParaRPr lang="en-IN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839" y="160337"/>
            <a:ext cx="5981076" cy="1143000"/>
          </a:xfrm>
        </p:spPr>
        <p:txBody>
          <a:bodyPr/>
          <a:lstStyle/>
          <a:p>
            <a:r>
              <a:rPr lang="en-US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498"/>
            <a:ext cx="8229600" cy="536166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“The current lack of a centralized, secure, and transparent mechanism for students to report grievances leads to delayed resolutions, lost complaints, and a pervasive culture of distrust in the institution's commitment to accountability. This absence of a dedicated system hampers both student morale and the administration’s ability to proactively identify and address systemic issues.”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Design a secure and automated web-based complaint portal.</a:t>
            </a:r>
          </a:p>
          <a:p>
            <a:pPr marL="0" indent="0">
              <a:buNone/>
            </a:pPr>
            <a:r>
              <a:rPr lang="en-US" dirty="0"/>
              <a:t>• Automate grievance tracking and resolution.</a:t>
            </a:r>
          </a:p>
          <a:p>
            <a:pPr marL="0" indent="0">
              <a:buNone/>
            </a:pPr>
            <a:r>
              <a:rPr lang="en-US" dirty="0"/>
              <a:t>• Ensure transparency and accountability in complaint handling.</a:t>
            </a:r>
          </a:p>
          <a:p>
            <a:pPr marL="0" indent="0">
              <a:buNone/>
            </a:pPr>
            <a:r>
              <a:rPr lang="en-US" dirty="0"/>
              <a:t>• Maintain a centralized database for institutional review.</a:t>
            </a:r>
          </a:p>
          <a:p>
            <a:pPr marL="0" indent="0">
              <a:buNone/>
            </a:pPr>
            <a:r>
              <a:rPr lang="en-US" dirty="0"/>
              <a:t>• Enable scalability for future enhancements.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2C8E82FF-97E0-F70B-A714-524CC5284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03290-21B4-5352-3427-B5C9609C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6D3FF7-0556-6B87-20F9-57B7774BF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994" y="0"/>
            <a:ext cx="9085006" cy="6744929"/>
          </a:xfrm>
        </p:spPr>
      </p:pic>
    </p:spTree>
    <p:extLst>
      <p:ext uri="{BB962C8B-B14F-4D97-AF65-F5344CB8AC3E}">
        <p14:creationId xmlns:p14="http://schemas.microsoft.com/office/powerpoint/2010/main" val="4084343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89B1-488A-CEE1-A27C-0BD4CE29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779287-A3F5-9F36-A5A4-558BC97C8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34290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4B3148-AEF9-F120-B0F4-875A417A6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399248"/>
            <a:ext cx="9144000" cy="3458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40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FCAFE-E8C9-9147-D914-796C5BCB0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B1AF25-0D0B-AFC0-0A62-B373E05376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821528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34911"/>
            <a:ext cx="9143999" cy="20708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Proposed System – Methodology / Process Flow Chart</a:t>
            </a:r>
            <a:endParaRPr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E09CF2-B4E0-9197-B757-FBB2AE65E2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233" y="1501207"/>
            <a:ext cx="7105338" cy="516572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23B42-558A-D112-439D-1D5187DCE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04932" y="1"/>
            <a:ext cx="9248931" cy="119921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Details of the Techniques used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A4DD-123E-249A-5979-B453172AD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9213"/>
            <a:ext cx="8949128" cy="5501389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Requirement Analysis &amp; Planning</a:t>
            </a:r>
          </a:p>
          <a:p>
            <a:r>
              <a:rPr lang="en-IN" b="1" dirty="0"/>
              <a:t>Requirement Gathering:</a:t>
            </a:r>
            <a:r>
              <a:rPr lang="en-IN" dirty="0"/>
              <a:t> Interviews, surveys, and questionnaires to understand what students and authorities need.</a:t>
            </a:r>
          </a:p>
          <a:p>
            <a:r>
              <a:rPr lang="en-IN" b="1" dirty="0"/>
              <a:t>Use Case Analysis:</a:t>
            </a:r>
            <a:r>
              <a:rPr lang="en-IN" dirty="0"/>
              <a:t> Identify all user types (students, admin staff, authorities).</a:t>
            </a:r>
          </a:p>
          <a:p>
            <a:r>
              <a:rPr lang="en-IN" b="1" dirty="0"/>
              <a:t>Functional &amp; Non-Functional Requirements:</a:t>
            </a:r>
            <a:r>
              <a:rPr lang="en-IN" dirty="0"/>
              <a:t> Performance, security, and usability goals.</a:t>
            </a:r>
          </a:p>
          <a:p>
            <a:r>
              <a:rPr lang="en-IN" b="1" dirty="0"/>
              <a:t>Workflow Diagram:</a:t>
            </a:r>
            <a:r>
              <a:rPr lang="en-IN" dirty="0"/>
              <a:t> Create flowcharts for complaint submission, approval, resolution, and feedback.</a:t>
            </a:r>
          </a:p>
          <a:p>
            <a:r>
              <a:rPr lang="en-IN" b="1" dirty="0"/>
              <a:t>B. System Design Techniques</a:t>
            </a:r>
          </a:p>
          <a:p>
            <a:r>
              <a:rPr lang="en-IN" b="1" dirty="0"/>
              <a:t>1. Frontend Design</a:t>
            </a:r>
          </a:p>
          <a:p>
            <a:r>
              <a:rPr lang="en-IN" b="1" dirty="0"/>
              <a:t>Web Application:</a:t>
            </a:r>
            <a:r>
              <a:rPr lang="en-IN" dirty="0"/>
              <a:t> HTML, CSS, JavaScript, node.js, express.js</a:t>
            </a:r>
          </a:p>
          <a:p>
            <a:r>
              <a:rPr lang="en-IN" b="1" dirty="0"/>
              <a:t>UI/UX Techniques:</a:t>
            </a:r>
            <a:endParaRPr lang="en-IN" dirty="0"/>
          </a:p>
          <a:p>
            <a:pPr lvl="1"/>
            <a:r>
              <a:rPr lang="en-IN" dirty="0"/>
              <a:t>Form validation (to ensure correct complaint details).</a:t>
            </a:r>
          </a:p>
          <a:p>
            <a:pPr lvl="1"/>
            <a:r>
              <a:rPr lang="en-IN" dirty="0"/>
              <a:t>Responsive design for mobile &amp; desktop.</a:t>
            </a:r>
          </a:p>
          <a:p>
            <a:pPr lvl="1"/>
            <a:r>
              <a:rPr lang="en-IN" dirty="0"/>
              <a:t>Clear navigation for complaint categories and statuses.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757475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D4E86-B780-C165-46B8-E2C826582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35E19-DF35-A0D0-ED13-9E0E1AB2D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57399"/>
            <a:ext cx="9144000" cy="921894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Details of the Techniques used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D5139-C487-D618-F71E-D9F89D510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9213"/>
            <a:ext cx="9144000" cy="550138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Backend Design</a:t>
            </a:r>
          </a:p>
          <a:p>
            <a:r>
              <a:rPr lang="en-IN" b="1" dirty="0"/>
              <a:t>Server-side Development:</a:t>
            </a:r>
            <a:r>
              <a:rPr lang="en-IN" dirty="0"/>
              <a:t> Node.js, express.js</a:t>
            </a:r>
          </a:p>
          <a:p>
            <a:r>
              <a:rPr lang="en-IN" b="1" dirty="0"/>
              <a:t>API Design:</a:t>
            </a:r>
            <a:r>
              <a:rPr lang="en-IN" dirty="0"/>
              <a:t> RESTful APIs for communication between frontend and backend.</a:t>
            </a:r>
          </a:p>
          <a:p>
            <a:r>
              <a:rPr lang="en-IN" b="1" dirty="0"/>
              <a:t>Database Design:</a:t>
            </a:r>
            <a:endParaRPr lang="en-IN" dirty="0"/>
          </a:p>
          <a:p>
            <a:pPr lvl="1"/>
            <a:r>
              <a:rPr lang="en-IN" dirty="0"/>
              <a:t>Relational Databases (MySQL) for structured complaint data.</a:t>
            </a:r>
          </a:p>
          <a:p>
            <a:pPr lvl="1"/>
            <a:r>
              <a:rPr lang="en-IN" dirty="0"/>
              <a:t>NoSQL (MongoDB) for storing unstructured or multimedia attachments.</a:t>
            </a:r>
          </a:p>
          <a:p>
            <a:pPr lvl="1"/>
            <a:r>
              <a:rPr lang="en-IN" dirty="0"/>
              <a:t>Use </a:t>
            </a:r>
            <a:r>
              <a:rPr lang="en-IN" b="1" dirty="0"/>
              <a:t>ER Diagrams</a:t>
            </a:r>
            <a:r>
              <a:rPr lang="en-IN" dirty="0"/>
              <a:t> for entity relationships like Student → Complaint → Status → Response.</a:t>
            </a:r>
          </a:p>
          <a:p>
            <a:pPr marL="0" indent="0">
              <a:buNone/>
            </a:pPr>
            <a:r>
              <a:rPr lang="en-IN" b="1" dirty="0"/>
              <a:t> Authentication &amp; Authorization</a:t>
            </a:r>
          </a:p>
          <a:p>
            <a:r>
              <a:rPr lang="en-IN" b="1" dirty="0"/>
              <a:t>Techniques:</a:t>
            </a:r>
            <a:endParaRPr lang="en-IN" dirty="0"/>
          </a:p>
          <a:p>
            <a:pPr lvl="1"/>
            <a:r>
              <a:rPr lang="en-IN" dirty="0"/>
              <a:t>JWT (JSON Web Tokens) for session management.</a:t>
            </a:r>
          </a:p>
          <a:p>
            <a:pPr lvl="1"/>
            <a:r>
              <a:rPr lang="en-IN" dirty="0"/>
              <a:t>Role-based access control (RBAC) for students, admins, and higher authorities.</a:t>
            </a:r>
          </a:p>
          <a:p>
            <a:pPr lvl="1"/>
            <a:r>
              <a:rPr lang="en-IN" dirty="0"/>
              <a:t>Single Sign-On (SSO) integration if using institutional accounts.</a:t>
            </a:r>
          </a:p>
        </p:txBody>
      </p:sp>
    </p:spTree>
    <p:extLst>
      <p:ext uri="{BB962C8B-B14F-4D97-AF65-F5344CB8AC3E}">
        <p14:creationId xmlns:p14="http://schemas.microsoft.com/office/powerpoint/2010/main" val="194679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6630-45CD-7DB5-7FD8-BB7F1753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86BEB-4381-0ADA-ABE1-088E3BAE7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599606"/>
            <a:ext cx="8919149" cy="62583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Complaint Tracking Workflow</a:t>
            </a:r>
          </a:p>
          <a:p>
            <a:r>
              <a:rPr lang="en-US" b="1" dirty="0"/>
              <a:t>Techniques Used:</a:t>
            </a:r>
            <a:endParaRPr lang="en-US" dirty="0"/>
          </a:p>
          <a:p>
            <a:pPr lvl="1"/>
            <a:r>
              <a:rPr lang="en-US" sz="2900" dirty="0"/>
              <a:t>State machine to represent complaint stages: Submitted → Under Review → Action Taken → Closed.</a:t>
            </a:r>
          </a:p>
          <a:p>
            <a:pPr lvl="1"/>
            <a:r>
              <a:rPr lang="en-US" sz="2900" dirty="0"/>
              <a:t>Email/SMS notifications triggered by state changes.</a:t>
            </a:r>
          </a:p>
          <a:p>
            <a:pPr lvl="1"/>
            <a:r>
              <a:rPr lang="en-US" sz="2900" dirty="0"/>
              <a:t>Escalation logic for unresolved complaints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 Data Management Techniques</a:t>
            </a:r>
          </a:p>
          <a:p>
            <a:r>
              <a:rPr lang="en-US" b="1" dirty="0"/>
              <a:t>Database Normalization</a:t>
            </a:r>
            <a:r>
              <a:rPr lang="en-US" dirty="0"/>
              <a:t> to avoid redundant storage.</a:t>
            </a:r>
          </a:p>
          <a:p>
            <a:r>
              <a:rPr lang="en-US" b="1" dirty="0"/>
              <a:t>File Storage</a:t>
            </a:r>
            <a:r>
              <a:rPr lang="en-US" dirty="0"/>
              <a:t> for attachments: local server.</a:t>
            </a:r>
          </a:p>
          <a:p>
            <a:r>
              <a:rPr lang="en-US" b="1" dirty="0"/>
              <a:t>Search &amp; Filter:</a:t>
            </a:r>
            <a:r>
              <a:rPr lang="en-US" dirty="0"/>
              <a:t> Full-text search on complaint titles, categories, and IDs.</a:t>
            </a:r>
          </a:p>
        </p:txBody>
      </p:sp>
    </p:spTree>
    <p:extLst>
      <p:ext uri="{BB962C8B-B14F-4D97-AF65-F5344CB8AC3E}">
        <p14:creationId xmlns:p14="http://schemas.microsoft.com/office/powerpoint/2010/main" val="159967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EA33-B4B7-CDE9-0A91-016E6B8B8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7AD5A-63FB-EB73-8C07-FFD31A8E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9842"/>
            <a:ext cx="9144000" cy="137909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Details of the Techniques used</a:t>
            </a: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3C59E-BE1A-A413-E1F7-F2EA134DDA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2473376"/>
            <a:ext cx="9009089" cy="4384623"/>
          </a:xfrm>
        </p:spPr>
        <p:txBody>
          <a:bodyPr>
            <a:normAutofit/>
          </a:bodyPr>
          <a:lstStyle/>
          <a:p>
            <a:r>
              <a:rPr lang="en-US" b="1" dirty="0"/>
              <a:t>Reporting &amp; Analytics:</a:t>
            </a:r>
            <a:endParaRPr lang="en-US" dirty="0"/>
          </a:p>
          <a:p>
            <a:pPr lvl="1"/>
            <a:r>
              <a:rPr lang="en-US" dirty="0"/>
              <a:t>Use charts to visualize complaint trends.</a:t>
            </a:r>
          </a:p>
          <a:p>
            <a:pPr lvl="1"/>
            <a:r>
              <a:rPr lang="en-US" dirty="0"/>
              <a:t>Generate PDF reports for authorities.</a:t>
            </a:r>
          </a:p>
          <a:p>
            <a:r>
              <a:rPr lang="en-IN" b="1" dirty="0"/>
              <a:t>Mobile Push Notifications</a:t>
            </a:r>
            <a:r>
              <a:rPr lang="en-IN" dirty="0"/>
              <a:t> for complaint updates.</a:t>
            </a:r>
          </a:p>
          <a:p>
            <a:r>
              <a:rPr lang="en-IN" b="1" dirty="0"/>
              <a:t>Integration with Institutional ERP</a:t>
            </a:r>
            <a:r>
              <a:rPr lang="en-IN" dirty="0"/>
              <a:t> for automated data sharing.</a:t>
            </a:r>
          </a:p>
          <a:p>
            <a:r>
              <a:rPr lang="en-IN" b="1" dirty="0"/>
              <a:t>Machine Learning for complaint categorization</a:t>
            </a:r>
            <a:r>
              <a:rPr lang="en-IN" dirty="0"/>
              <a:t> or trend prediction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650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69A59-E1E1-833E-CE1A-8E57B8AE4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34426-0B76-B7EE-9B9A-5C289F41A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3999" cy="65532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Details of the Techniques used</a:t>
            </a:r>
            <a:endParaRPr lang="en-IN" sz="3200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454EBC-2499-5846-BEAE-7F055419206F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15582422"/>
              </p:ext>
            </p:extLst>
          </p:nvPr>
        </p:nvGraphicFramePr>
        <p:xfrm>
          <a:off x="0" y="1417638"/>
          <a:ext cx="8997846" cy="5481004"/>
        </p:xfrm>
        <a:graphic>
          <a:graphicData uri="http://schemas.openxmlformats.org/drawingml/2006/table">
            <a:tbl>
              <a:tblPr/>
              <a:tblGrid>
                <a:gridCol w="4498923">
                  <a:extLst>
                    <a:ext uri="{9D8B030D-6E8A-4147-A177-3AD203B41FA5}">
                      <a16:colId xmlns:a16="http://schemas.microsoft.com/office/drawing/2014/main" val="1594060286"/>
                    </a:ext>
                  </a:extLst>
                </a:gridCol>
                <a:gridCol w="4498923">
                  <a:extLst>
                    <a:ext uri="{9D8B030D-6E8A-4147-A177-3AD203B41FA5}">
                      <a16:colId xmlns:a16="http://schemas.microsoft.com/office/drawing/2014/main" val="424617914"/>
                    </a:ext>
                  </a:extLst>
                </a:gridCol>
              </a:tblGrid>
              <a:tr h="834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TOOLS AND TECHNOLOGY :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Technologies/Tools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376369"/>
                  </a:ext>
                </a:extLst>
              </a:tr>
              <a:tr h="834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HTML/CSS/JS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261142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Node.js,express.js,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071917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MySQL, MongoDB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493522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File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Local host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8014965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Authentication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JWT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058340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Jest, Selenium, Postman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192661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/>
                        <a:t>Docker, AWS/Azure, CI/CD pipelines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193886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HTTPS, Input Validation, Encryption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842161"/>
                  </a:ext>
                </a:extLst>
              </a:tr>
              <a:tr h="4766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Chart.js, Google Analytics, 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08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561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10E8-FCB1-36DA-41A0-AEA583B1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71005"/>
            <a:ext cx="8229600" cy="1143000"/>
          </a:xfrm>
        </p:spPr>
        <p:txBody>
          <a:bodyPr/>
          <a:lstStyle/>
          <a:p>
            <a:r>
              <a:rPr lang="en-US" sz="4000" b="1" dirty="0"/>
              <a:t>RESULTS AND DISCUSSION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B66BE-F055-DC0A-E381-7602441E8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9450"/>
            <a:ext cx="9144000" cy="572100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Results from Data Collection</a:t>
            </a:r>
          </a:p>
          <a:p>
            <a:r>
              <a:rPr lang="en-US" b="1" dirty="0"/>
              <a:t>From Surveys &amp; Questionnaires:</a:t>
            </a:r>
            <a:endParaRPr lang="en-US" dirty="0"/>
          </a:p>
          <a:p>
            <a:r>
              <a:rPr lang="en-US" b="1" dirty="0"/>
              <a:t>Major Complaint Categories Identified:</a:t>
            </a:r>
            <a:r>
              <a:rPr lang="en-US" dirty="0"/>
              <a:t> Academic issues (30%), Infrastructure (25%), Administrative delays (20%), Harassment/Disciplinary concerns (15%), Others (10%).</a:t>
            </a:r>
          </a:p>
          <a:p>
            <a:r>
              <a:rPr lang="en-US" b="1" dirty="0"/>
              <a:t>Preferred Communication Channel:</a:t>
            </a:r>
            <a:r>
              <a:rPr lang="en-US" dirty="0"/>
              <a:t> 70% of students preferred an online portal over paper-based submission.</a:t>
            </a:r>
          </a:p>
          <a:p>
            <a:r>
              <a:rPr lang="en-US" b="1" dirty="0"/>
              <a:t>Pain Points:</a:t>
            </a:r>
            <a:r>
              <a:rPr lang="en-US" dirty="0"/>
              <a:t> Delayed responses, lack of tracking, and lack of anonymity for sensitive complaints.</a:t>
            </a:r>
          </a:p>
          <a:p>
            <a:r>
              <a:rPr lang="en-US" b="1" dirty="0"/>
              <a:t>From Interviews with Authorities:</a:t>
            </a:r>
            <a:endParaRPr lang="en-US" dirty="0"/>
          </a:p>
          <a:p>
            <a:r>
              <a:rPr lang="en-US" dirty="0"/>
              <a:t>Manual complaint tracking caused delays and accountability issues.</a:t>
            </a:r>
          </a:p>
          <a:p>
            <a:r>
              <a:rPr lang="en-US" dirty="0"/>
              <a:t>Departments often received duplicate complaints due to lack of centralization.</a:t>
            </a:r>
          </a:p>
          <a:p>
            <a:r>
              <a:rPr lang="en-US" dirty="0"/>
              <a:t>Authorities were open to a digital system but emphasized security and role-based access.</a:t>
            </a:r>
          </a:p>
          <a:p>
            <a:r>
              <a:rPr lang="en-US" b="1" dirty="0"/>
              <a:t>From Institutional Records:</a:t>
            </a:r>
            <a:endParaRPr lang="en-US" dirty="0"/>
          </a:p>
          <a:p>
            <a:r>
              <a:rPr lang="en-US" dirty="0"/>
              <a:t>On average, complaints took 10–15 days to resolve manually.</a:t>
            </a:r>
          </a:p>
          <a:p>
            <a:r>
              <a:rPr lang="en-US" dirty="0"/>
              <a:t>About 20% of complaints had incomplete records or missing follow-ups.</a:t>
            </a:r>
          </a:p>
          <a:p>
            <a:r>
              <a:rPr lang="en-US" dirty="0"/>
              <a:t>Recurring complaint types indicated systemic issues, particularly in administrative and infrastructure processes.</a:t>
            </a:r>
          </a:p>
          <a:p>
            <a:r>
              <a:rPr lang="en-US" b="1" dirty="0"/>
              <a:t>From Observation:</a:t>
            </a:r>
            <a:endParaRPr lang="en-US" dirty="0"/>
          </a:p>
          <a:p>
            <a:r>
              <a:rPr lang="en-US" dirty="0"/>
              <a:t>Students often had difficulty knowing whom to contact.</a:t>
            </a:r>
          </a:p>
          <a:p>
            <a:r>
              <a:rPr lang="en-US" dirty="0"/>
              <a:t>Paper-based forms were sometimes misplaced or delayed.</a:t>
            </a:r>
          </a:p>
          <a:p>
            <a:r>
              <a:rPr lang="en-US" dirty="0"/>
              <a:t>Lack of visibility into complaint status caused frustration.</a:t>
            </a:r>
          </a:p>
        </p:txBody>
      </p:sp>
    </p:spTree>
    <p:extLst>
      <p:ext uri="{BB962C8B-B14F-4D97-AF65-F5344CB8AC3E}">
        <p14:creationId xmlns:p14="http://schemas.microsoft.com/office/powerpoint/2010/main" val="3237876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5EA5-8C81-1BC0-4373-6D3AE464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F9771-713B-0DCD-A702-AF7EFB13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71005"/>
            <a:ext cx="8229600" cy="1143000"/>
          </a:xfrm>
        </p:spPr>
        <p:txBody>
          <a:bodyPr/>
          <a:lstStyle/>
          <a:p>
            <a:r>
              <a:rPr lang="en-US" sz="4000" b="1" dirty="0"/>
              <a:t>RESULTS AND DISCUSSION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01034-041B-D937-C402-3284DE1C6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71994"/>
            <a:ext cx="9144000" cy="608600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/>
              <a:t>Discussion</a:t>
            </a:r>
          </a:p>
          <a:p>
            <a:r>
              <a:rPr lang="en-US" sz="2400" b="1" dirty="0"/>
              <a:t>Understanding the Problem Scope:</a:t>
            </a:r>
            <a:endParaRPr lang="en-US" sz="2400" dirty="0"/>
          </a:p>
          <a:p>
            <a:pPr lvl="1"/>
            <a:r>
              <a:rPr lang="en-US" sz="1800" dirty="0"/>
              <a:t>The data collection phase highlighted the </a:t>
            </a:r>
            <a:r>
              <a:rPr lang="en-US" sz="1800" b="1" dirty="0"/>
              <a:t>inefficiency of manual complaint handling</a:t>
            </a:r>
            <a:r>
              <a:rPr lang="en-US" sz="1800" dirty="0"/>
              <a:t>, particularly for tracking and timely resolution.</a:t>
            </a:r>
          </a:p>
          <a:p>
            <a:pPr lvl="1"/>
            <a:r>
              <a:rPr lang="en-US" sz="1800" dirty="0"/>
              <a:t>High student interest in a digital solution confirmed the </a:t>
            </a:r>
            <a:r>
              <a:rPr lang="en-US" sz="1800" b="1" dirty="0"/>
              <a:t>need for a centralized online grievance hub</a:t>
            </a:r>
            <a:r>
              <a:rPr lang="en-US" sz="1800" dirty="0"/>
              <a:t>.</a:t>
            </a:r>
          </a:p>
          <a:p>
            <a:r>
              <a:rPr lang="en-US" sz="2400" b="1" dirty="0"/>
              <a:t>Design Implications:</a:t>
            </a:r>
            <a:endParaRPr lang="en-US" sz="2400" dirty="0"/>
          </a:p>
          <a:p>
            <a:pPr lvl="1"/>
            <a:r>
              <a:rPr lang="en-US" sz="1800" dirty="0"/>
              <a:t>Complaint categorization (academic, infrastructure, administrative, harassment) became a critical feature based on survey results.</a:t>
            </a:r>
          </a:p>
          <a:p>
            <a:pPr lvl="1"/>
            <a:r>
              <a:rPr lang="en-US" sz="1800" dirty="0"/>
              <a:t>Anonymous submission and secure login were prioritized to address privacy concerns.</a:t>
            </a:r>
          </a:p>
          <a:p>
            <a:pPr lvl="1"/>
            <a:r>
              <a:rPr lang="en-US" sz="1800" dirty="0"/>
              <a:t>Notifications and status tracking were incorporated to improve transparency.</a:t>
            </a:r>
          </a:p>
          <a:p>
            <a:r>
              <a:rPr lang="en-US" sz="2400" b="1" dirty="0"/>
              <a:t>Challenges Identified During Data Collection:</a:t>
            </a:r>
            <a:endParaRPr lang="en-US" sz="2400" dirty="0"/>
          </a:p>
          <a:p>
            <a:pPr lvl="1"/>
            <a:r>
              <a:rPr lang="en-US" sz="1800" dirty="0"/>
              <a:t>Some students were hesitant to provide honest feedback due to fear of retribution.</a:t>
            </a:r>
          </a:p>
          <a:p>
            <a:pPr lvl="1"/>
            <a:r>
              <a:rPr lang="en-US" sz="1800" dirty="0"/>
              <a:t>Variation in departmental workflows meant the system needed flexible configuration.</a:t>
            </a:r>
          </a:p>
          <a:p>
            <a:r>
              <a:rPr lang="en-US" sz="2400" b="1" dirty="0"/>
              <a:t>Impact on Project Planning:</a:t>
            </a:r>
            <a:endParaRPr lang="en-US" sz="2400" dirty="0"/>
          </a:p>
          <a:p>
            <a:pPr lvl="1"/>
            <a:r>
              <a:rPr lang="en-US" sz="1800" dirty="0"/>
              <a:t>Clear requirements from students and authorities helped define </a:t>
            </a:r>
            <a:r>
              <a:rPr lang="en-US" sz="1800" b="1" dirty="0"/>
              <a:t>functional and non-functional requirements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Data analysis informed the </a:t>
            </a:r>
            <a:r>
              <a:rPr lang="en-US" sz="1800" b="1" dirty="0"/>
              <a:t>choice of technology stack</a:t>
            </a:r>
            <a:r>
              <a:rPr lang="en-US" sz="1800" dirty="0"/>
              <a:t>: a web-based portal with mobile support, centralized database, and role-based access.</a:t>
            </a:r>
            <a:endParaRPr lang="en-US" sz="1800" b="1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9486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3BB3A-9399-8BEF-08A9-DE9FD92F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66D0-3E3F-F264-1702-7B62DF85A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371005"/>
            <a:ext cx="8229600" cy="1143000"/>
          </a:xfrm>
        </p:spPr>
        <p:txBody>
          <a:bodyPr/>
          <a:lstStyle/>
          <a:p>
            <a:r>
              <a:rPr lang="en-US" sz="4000" b="1" dirty="0"/>
              <a:t>RESULTS AND DISCUSSION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F4CBE-3AE4-0E61-C7D6-7D5D9A356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9449"/>
            <a:ext cx="9144000" cy="601855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 User Registration and Authentication</a:t>
            </a:r>
          </a:p>
          <a:p>
            <a:r>
              <a:rPr lang="en-US" b="1" dirty="0"/>
              <a:t>Techniques Used:</a:t>
            </a:r>
            <a:endParaRPr lang="en-US" dirty="0"/>
          </a:p>
          <a:p>
            <a:r>
              <a:rPr lang="en-US" dirty="0"/>
              <a:t>Role-Based Access Control (RBAC)</a:t>
            </a:r>
          </a:p>
          <a:p>
            <a:r>
              <a:rPr lang="en-US" dirty="0"/>
              <a:t>JWT Authentication</a:t>
            </a:r>
          </a:p>
          <a:p>
            <a:r>
              <a:rPr lang="en-US" dirty="0"/>
              <a:t>Input validation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r>
              <a:rPr lang="en-US" dirty="0"/>
              <a:t>Students were able to register using institutional email IDs, and login/logout processes worked securely.</a:t>
            </a:r>
          </a:p>
          <a:p>
            <a:r>
              <a:rPr lang="en-US" dirty="0"/>
              <a:t>Admin and higher authority roles were correctly segregated, restricting unauthorized access to sensitive complaint data.</a:t>
            </a:r>
          </a:p>
          <a:p>
            <a:r>
              <a:rPr lang="en-US" dirty="0"/>
              <a:t>Attempts at SQL Injection or invalid input were effectively blocked, confirming that input validation worked as intended.</a:t>
            </a:r>
          </a:p>
          <a:p>
            <a:r>
              <a:rPr lang="en-US" b="1" dirty="0"/>
              <a:t>Discussion:</a:t>
            </a:r>
            <a:endParaRPr lang="en-US" dirty="0"/>
          </a:p>
          <a:p>
            <a:r>
              <a:rPr lang="en-US" dirty="0"/>
              <a:t>Secure authentication ensured confidentiality of student data and maintained integrity in the complaint handling process.</a:t>
            </a:r>
          </a:p>
          <a:p>
            <a:r>
              <a:rPr lang="en-US" dirty="0"/>
              <a:t>RBAC allowed different functionalities for students and authorities, which improved workflow efficiency.</a:t>
            </a:r>
          </a:p>
          <a:p>
            <a:r>
              <a:rPr lang="en-US" dirty="0"/>
              <a:t>A limitation observed was occasional token expiry issues in JWT, which could be resolved by implementing token refresh logic.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861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E5017-7696-7846-90CC-2BDE9956A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0"/>
            <a:ext cx="9144000" cy="68580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Complaint Submission and Categorization</a:t>
            </a:r>
          </a:p>
          <a:p>
            <a:r>
              <a:rPr lang="en-US" b="1" dirty="0"/>
              <a:t>Techniques Used:</a:t>
            </a:r>
            <a:endParaRPr lang="en-US" dirty="0"/>
          </a:p>
          <a:p>
            <a:r>
              <a:rPr lang="en-US" dirty="0"/>
              <a:t>Form-based submission with validation</a:t>
            </a:r>
          </a:p>
          <a:p>
            <a:r>
              <a:rPr lang="en-US" dirty="0"/>
              <a:t>Multimedia attachment handling (cloud storage integration)</a:t>
            </a:r>
          </a:p>
          <a:p>
            <a:r>
              <a:rPr lang="en-US" dirty="0"/>
              <a:t>Category tagging (academic, administrative, infrastructure, harassment)</a:t>
            </a:r>
          </a:p>
          <a:p>
            <a:r>
              <a:rPr lang="en-US" b="1" dirty="0"/>
              <a:t>Results:</a:t>
            </a:r>
            <a:endParaRPr lang="en-US" dirty="0"/>
          </a:p>
          <a:p>
            <a:r>
              <a:rPr lang="en-US" dirty="0"/>
              <a:t>Students successfully submitted complaints with text, images, or documents.</a:t>
            </a:r>
          </a:p>
          <a:p>
            <a:r>
              <a:rPr lang="en-US" dirty="0"/>
              <a:t>Complaints were automatically assigned to categories based on student selection.</a:t>
            </a:r>
          </a:p>
          <a:p>
            <a:r>
              <a:rPr lang="en-US" dirty="0"/>
              <a:t>Average submission time was under 30 seconds per complaint.</a:t>
            </a:r>
          </a:p>
          <a:p>
            <a:r>
              <a:rPr lang="en-US" b="1" dirty="0"/>
              <a:t>Discussion:</a:t>
            </a:r>
            <a:endParaRPr lang="en-US" dirty="0"/>
          </a:p>
          <a:p>
            <a:r>
              <a:rPr lang="en-US" dirty="0"/>
              <a:t>Structured categorization allowed for faster processing by the respective department.</a:t>
            </a:r>
          </a:p>
          <a:p>
            <a:r>
              <a:rPr lang="en-US" dirty="0"/>
              <a:t>Cloud-based attachment storage prevented server overload and reduced response latency.</a:t>
            </a:r>
          </a:p>
          <a:p>
            <a:r>
              <a:rPr lang="en-US" dirty="0"/>
              <a:t>Challenges included occasional attachment upload failures with very large files, highlighting the need for a file-size restriction and better 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3417834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9B00BD-4429-50C5-EAE2-D95C6B8113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Workflow Management and Tracking</a:t>
            </a:r>
          </a:p>
          <a:p>
            <a:pPr marL="0" indent="0">
              <a:buNone/>
            </a:pPr>
            <a:r>
              <a:rPr lang="en-US" b="1" dirty="0"/>
              <a:t>Techniques Used:</a:t>
            </a:r>
            <a:endParaRPr lang="en-US" dirty="0"/>
          </a:p>
          <a:p>
            <a:r>
              <a:rPr lang="en-US" dirty="0"/>
              <a:t>State machine for complaint stages: Submitted → Under Review → Action Taken → Closed</a:t>
            </a:r>
          </a:p>
          <a:p>
            <a:r>
              <a:rPr lang="en-US" dirty="0"/>
              <a:t>Email/SMS notifications triggered on state change</a:t>
            </a:r>
          </a:p>
          <a:p>
            <a:r>
              <a:rPr lang="en-US" dirty="0"/>
              <a:t>Escalation logic for unresolved complaints</a:t>
            </a:r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r>
              <a:rPr lang="en-US" dirty="0"/>
              <a:t>Complaints could be tracked in real-time, and students received notifications at each stage.</a:t>
            </a:r>
          </a:p>
          <a:p>
            <a:r>
              <a:rPr lang="en-US" dirty="0"/>
              <a:t>The escalation system flagged complaints unresolved for more than 7 days, ensuring accountability.</a:t>
            </a:r>
          </a:p>
          <a:p>
            <a:r>
              <a:rPr lang="en-US" dirty="0"/>
              <a:t>Admin dashboards provided a clear overview of pending and resolved complaints.</a:t>
            </a:r>
          </a:p>
          <a:p>
            <a:pPr marL="0" indent="0">
              <a:buNone/>
            </a:pPr>
            <a:r>
              <a:rPr lang="en-US" b="1" dirty="0"/>
              <a:t>Discussion:</a:t>
            </a:r>
            <a:endParaRPr lang="en-US" dirty="0"/>
          </a:p>
          <a:p>
            <a:r>
              <a:rPr lang="en-US" dirty="0"/>
              <a:t>The workflow automation reduced manual intervention by 40–50%, increasing administrative efficiency.</a:t>
            </a:r>
          </a:p>
          <a:p>
            <a:r>
              <a:rPr lang="en-US" dirty="0"/>
              <a:t>Students reported higher satisfaction due to transparency in tracking.</a:t>
            </a:r>
          </a:p>
          <a:p>
            <a:r>
              <a:rPr lang="en-US" dirty="0"/>
              <a:t>Some authorities initially faced a learning curve in using the dashboard, indicating the need for training or onboarding.</a:t>
            </a:r>
          </a:p>
        </p:txBody>
      </p:sp>
    </p:spTree>
    <p:extLst>
      <p:ext uri="{BB962C8B-B14F-4D97-AF65-F5344CB8AC3E}">
        <p14:creationId xmlns:p14="http://schemas.microsoft.com/office/powerpoint/2010/main" val="79415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DA4C8-7D8C-7684-EA87-9C05DCB31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/>
              <a:t>Database Management and Analytics</a:t>
            </a:r>
          </a:p>
          <a:p>
            <a:pPr marL="0" indent="0">
              <a:buNone/>
            </a:pPr>
            <a:r>
              <a:rPr lang="en-US" b="1" dirty="0"/>
              <a:t>Techniques Used:</a:t>
            </a:r>
            <a:endParaRPr lang="en-US" dirty="0"/>
          </a:p>
          <a:p>
            <a:r>
              <a:rPr lang="en-US" dirty="0"/>
              <a:t>Relational database (MySQL) for structured complaint data</a:t>
            </a:r>
          </a:p>
          <a:p>
            <a:r>
              <a:rPr lang="en-US" dirty="0"/>
              <a:t>Normalization to avoid redundancy</a:t>
            </a:r>
          </a:p>
          <a:p>
            <a:r>
              <a:rPr lang="en-US" dirty="0"/>
              <a:t>Reporting &amp; analytics dashboards with trend visualization</a:t>
            </a:r>
          </a:p>
          <a:p>
            <a:pPr marL="0" indent="0">
              <a:buNone/>
            </a:pPr>
            <a:r>
              <a:rPr lang="en-US" b="1" dirty="0"/>
              <a:t>Results:</a:t>
            </a:r>
            <a:endParaRPr lang="en-US" dirty="0"/>
          </a:p>
          <a:p>
            <a:r>
              <a:rPr lang="en-US" dirty="0"/>
              <a:t>Complaints were stored efficiently with clear relations between students, complaints, and responses.</a:t>
            </a:r>
          </a:p>
          <a:p>
            <a:r>
              <a:rPr lang="en-US" dirty="0"/>
              <a:t>Reports generated weekly highlighted top complaint categories and departments with highest resolution time.</a:t>
            </a:r>
          </a:p>
          <a:p>
            <a:r>
              <a:rPr lang="en-US" dirty="0"/>
              <a:t>Search functionality allowed filtering complaints by ID, category, or status.</a:t>
            </a:r>
          </a:p>
          <a:p>
            <a:pPr marL="0" indent="0">
              <a:buNone/>
            </a:pPr>
            <a:r>
              <a:rPr lang="en-US" b="1" dirty="0"/>
              <a:t>Discussion:</a:t>
            </a:r>
            <a:endParaRPr lang="en-US" dirty="0"/>
          </a:p>
          <a:p>
            <a:r>
              <a:rPr lang="en-US" dirty="0"/>
              <a:t>Structured database and normalized design improved query performance by ~30% compared to unnormalized structures.</a:t>
            </a:r>
          </a:p>
          <a:p>
            <a:r>
              <a:rPr lang="en-US" dirty="0"/>
              <a:t>Analytics provided actionable insights for administration to allocate resources better.</a:t>
            </a:r>
          </a:p>
          <a:p>
            <a:r>
              <a:rPr lang="en-US" dirty="0"/>
              <a:t>Limitations included performance drops when handling large-scale multimedia attachments, which could be mitigated by using caching mechanisms.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3579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429AD-67D5-D4F4-2C30-8EEDD1532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Future Enhancement</a:t>
            </a:r>
            <a:endParaRPr lang="en-IN" sz="4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10DC8-77E6-BD70-D0AE-66898B8F4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9144000" cy="54102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• Integration with institutional ERP system.</a:t>
            </a:r>
          </a:p>
          <a:p>
            <a:pPr marL="0" indent="0">
              <a:buNone/>
            </a:pPr>
            <a:r>
              <a:rPr lang="en-US" dirty="0"/>
              <a:t>• AI-based prioritization of complaints.</a:t>
            </a:r>
          </a:p>
          <a:p>
            <a:pPr marL="0" indent="0">
              <a:buNone/>
            </a:pPr>
            <a:r>
              <a:rPr lang="en-US" dirty="0"/>
              <a:t>• Implementation of chatbot support.</a:t>
            </a:r>
          </a:p>
          <a:p>
            <a:pPr marL="0" indent="0">
              <a:buNone/>
            </a:pPr>
            <a:r>
              <a:rPr lang="en-US" dirty="0"/>
              <a:t>• Mobile app version for easier access.</a:t>
            </a:r>
          </a:p>
          <a:p>
            <a:pPr marL="0" indent="0">
              <a:buNone/>
            </a:pPr>
            <a:r>
              <a:rPr lang="en-US" dirty="0"/>
              <a:t>• Advanced analytics for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008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2C48-C49E-1F15-13BE-25E4D4A3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9843" y="-127000"/>
            <a:ext cx="4546600" cy="5842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REFERENCES</a:t>
            </a:r>
            <a:endParaRPr lang="en-IN" sz="40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25CF5-C9B3-CAA0-D3A0-70F64E1709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01600" y="457200"/>
            <a:ext cx="9129486" cy="6197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Academic and Research Papers</a:t>
            </a:r>
          </a:p>
          <a:p>
            <a:r>
              <a:rPr lang="en-US" b="1" dirty="0"/>
              <a:t>Design and Implementation of Online Students' Complaint Management System for Institutions of Higher Learning</a:t>
            </a:r>
            <a:br>
              <a:rPr lang="en-US" dirty="0"/>
            </a:br>
            <a:r>
              <a:rPr lang="en-US" dirty="0"/>
              <a:t>This paper discusses the development of an online system to address student complaints, emphasizing the importance of data collection in understanding student issues and designing effective solutions. </a:t>
            </a:r>
            <a:r>
              <a:rPr lang="en-US" dirty="0">
                <a:hlinkClick r:id="rId2"/>
              </a:rPr>
              <a:t>ResearchGate</a:t>
            </a:r>
            <a:endParaRPr lang="en-US" dirty="0"/>
          </a:p>
          <a:p>
            <a:r>
              <a:rPr lang="en-US" b="1" dirty="0"/>
              <a:t>A Survey on Student Grievance Redressal System</a:t>
            </a:r>
            <a:br>
              <a:rPr lang="en-US" dirty="0"/>
            </a:br>
            <a:r>
              <a:rPr lang="en-US" dirty="0"/>
              <a:t>This study provides an overview of various grievance redressal systems, highlighting the role of surveys and data analysis in identifying student concerns and shaping system features. </a:t>
            </a:r>
            <a:r>
              <a:rPr lang="en-US" dirty="0">
                <a:hlinkClick r:id="rId3"/>
              </a:rPr>
              <a:t>IJRASET</a:t>
            </a:r>
            <a:endParaRPr lang="en-US" dirty="0"/>
          </a:p>
          <a:p>
            <a:r>
              <a:rPr lang="en-US" b="1" dirty="0"/>
              <a:t>Student Grievance Redressal</a:t>
            </a:r>
            <a:br>
              <a:rPr lang="en-US" dirty="0"/>
            </a:br>
            <a:r>
              <a:rPr lang="en-US" dirty="0"/>
              <a:t>This paper examines case studies and best practices in addressing student grievances, offering practical guidance on data collection methods and system design. </a:t>
            </a:r>
            <a:r>
              <a:rPr lang="en-US" dirty="0">
                <a:hlinkClick r:id="rId4"/>
              </a:rPr>
              <a:t>ijset.in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🛠️ Technical Documentation and Case Studies</a:t>
            </a:r>
          </a:p>
          <a:p>
            <a:r>
              <a:rPr lang="en-US" b="1" dirty="0" err="1"/>
              <a:t>virajbhutada</a:t>
            </a:r>
            <a:r>
              <a:rPr lang="en-US" b="1" dirty="0"/>
              <a:t>/students-grievance-management-system</a:t>
            </a:r>
            <a:br>
              <a:rPr lang="en-US" dirty="0"/>
            </a:br>
            <a:r>
              <a:rPr lang="en-US" dirty="0"/>
              <a:t>This GitHub repository presents a project focused on developing a student grievance management system, providing insights into the technical aspects and considerations during the project's initiation. </a:t>
            </a:r>
            <a:r>
              <a:rPr lang="en-US" dirty="0">
                <a:hlinkClick r:id="rId5"/>
              </a:rPr>
              <a:t>GitHub</a:t>
            </a:r>
            <a:endParaRPr lang="en-US" dirty="0"/>
          </a:p>
          <a:p>
            <a:r>
              <a:rPr lang="en-US" b="1" dirty="0"/>
              <a:t>Case Study: Student Portal</a:t>
            </a:r>
            <a:br>
              <a:rPr lang="en-US" dirty="0"/>
            </a:br>
            <a:r>
              <a:rPr lang="en-US" dirty="0"/>
              <a:t>This article discusses the creation of a student portal, detailing the process of gathering user requirements and designing a system that meets student needs. </a:t>
            </a:r>
            <a:r>
              <a:rPr lang="en-US" dirty="0" err="1">
                <a:hlinkClick r:id="rId6"/>
              </a:rPr>
              <a:t>Prototypr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📊 Surveys and Data Collection Tools</a:t>
            </a:r>
          </a:p>
          <a:p>
            <a:r>
              <a:rPr lang="en-US" b="1" dirty="0"/>
              <a:t>How to create student survey about grievance processes</a:t>
            </a:r>
            <a:br>
              <a:rPr lang="en-US" dirty="0"/>
            </a:br>
            <a:r>
              <a:rPr lang="en-US" dirty="0"/>
              <a:t>This guide offers practical advice on designing surveys to collect student feedback on grievance processes, emphasizing the importance of clear and unbiased questions. </a:t>
            </a:r>
            <a:r>
              <a:rPr lang="en-US" dirty="0" err="1">
                <a:hlinkClick r:id="rId7"/>
              </a:rPr>
              <a:t>specific.app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🏛️ Institutional Implementations</a:t>
            </a:r>
          </a:p>
          <a:p>
            <a:pPr marL="0" indent="0">
              <a:buNone/>
            </a:pPr>
            <a:r>
              <a:rPr lang="en-US" b="1" dirty="0"/>
              <a:t>Student Grievance Redressal at IGNOU</a:t>
            </a:r>
            <a:br>
              <a:rPr lang="en-US" dirty="0"/>
            </a:br>
            <a:r>
              <a:rPr lang="en-US" dirty="0"/>
              <a:t>This document provides insights into the grievance redressal mechanisms at IGNOU, detailing the processes and data collection methods used to address student complaints. </a:t>
            </a:r>
            <a:r>
              <a:rPr lang="en-US" dirty="0">
                <a:hlinkClick r:id="rId8"/>
              </a:rPr>
              <a:t>JETIR</a:t>
            </a:r>
            <a:endParaRPr lang="en-US" dirty="0"/>
          </a:p>
          <a:p>
            <a:r>
              <a:rPr lang="en-US" b="1" dirty="0"/>
              <a:t>DAVV to launch app to resolve students' grievances</a:t>
            </a:r>
            <a:br>
              <a:rPr lang="en-US" dirty="0"/>
            </a:br>
            <a:r>
              <a:rPr lang="en-US" dirty="0"/>
              <a:t>This news article discusses the development of a student grievance redressal application at Devi Ahilya Vishwavidyalaya, highlighting the institution's approach to data collection and system design. </a:t>
            </a:r>
            <a:r>
              <a:rPr lang="en-US" dirty="0">
                <a:hlinkClick r:id="rId9"/>
              </a:rPr>
              <a:t>The Times of India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1678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Questions?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Thank you for your attention!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8F8D8B23-2E8F-D7EC-14A3-D3EEC1731929}"/>
              </a:ext>
            </a:extLst>
          </p:cNvPr>
          <p:cNvSpPr/>
          <p:nvPr/>
        </p:nvSpPr>
        <p:spPr>
          <a:xfrm>
            <a:off x="3807502" y="3429000"/>
            <a:ext cx="2623278" cy="2701977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1784</Words>
  <Application>Microsoft Office PowerPoint</Application>
  <PresentationFormat>On-screen Show (4:3)</PresentationFormat>
  <Paragraphs>188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Bookman Old Style</vt:lpstr>
      <vt:lpstr>Rockwell</vt:lpstr>
      <vt:lpstr>Damask</vt:lpstr>
      <vt:lpstr>DEPARTMENT OF COMPUTER SCIENCE AND ENGINEERING  36021M81 MINI PROJECT STUDENT GRIEVANCE HUB</vt:lpstr>
      <vt:lpstr>Problem Statement</vt:lpstr>
      <vt:lpstr>Objectives</vt:lpstr>
      <vt:lpstr>PowerPoint Presentation</vt:lpstr>
      <vt:lpstr>PowerPoint Presentation</vt:lpstr>
      <vt:lpstr>PowerPoint Presentation</vt:lpstr>
      <vt:lpstr>PowerPoint Presentation</vt:lpstr>
      <vt:lpstr>Proposed System – Methodology / Process Flow Chart</vt:lpstr>
      <vt:lpstr>Details of the Techniques used</vt:lpstr>
      <vt:lpstr>Details of the Techniques used</vt:lpstr>
      <vt:lpstr>PowerPoint Presentation</vt:lpstr>
      <vt:lpstr>Details of the Techniques used</vt:lpstr>
      <vt:lpstr>Details of the Techniques used</vt:lpstr>
      <vt:lpstr>RESULTS AND DISCUSSION</vt:lpstr>
      <vt:lpstr>RESULTS AND DISCUSSION</vt:lpstr>
      <vt:lpstr>RESULTS AND DISCUSSION</vt:lpstr>
      <vt:lpstr>PowerPoint Presentation</vt:lpstr>
      <vt:lpstr>PowerPoint Presentation</vt:lpstr>
      <vt:lpstr>PowerPoint Presentation</vt:lpstr>
      <vt:lpstr>Future Enhancement</vt:lpstr>
      <vt:lpstr>REFERENCES</vt:lpstr>
      <vt:lpstr>Questions?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36021M81 MINI PROJECT Mini Project Title</dc:title>
  <dc:creator>HP</dc:creator>
  <dc:description>generated using python-pptx</dc:description>
  <cp:lastModifiedBy>ABHIJEET RANJAN</cp:lastModifiedBy>
  <cp:revision>11</cp:revision>
  <dcterms:created xsi:type="dcterms:W3CDTF">2013-01-27T09:14:16Z</dcterms:created>
  <dcterms:modified xsi:type="dcterms:W3CDTF">2025-12-01T04:38:52Z</dcterms:modified>
</cp:coreProperties>
</file>